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Cantidad de juegos</c:v>
                </c:pt>
              </c:strCache>
            </c:strRef>
          </c:tx>
          <c:spPr>
            <a:solidFill>
              <a:srgbClr val="1E90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8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6C0F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Action;Indie</c:v>
                  </c:pt>
                  <c:pt idx="1">
                    <c:v>Casual;Indie</c:v>
                  </c:pt>
                  <c:pt idx="2">
                    <c:v>Action;Adv;Indie</c:v>
                  </c:pt>
                  <c:pt idx="3">
                    <c:v>Adventure;Indie</c:v>
                  </c:pt>
                  <c:pt idx="4">
                    <c:v>Action;Casual;Indie</c:v>
                  </c:pt>
                  <c:pt idx="5">
                    <c:v>Action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1852</c:v>
                </c:pt>
                <c:pt idx="1">
                  <c:v>1482</c:v>
                </c:pt>
                <c:pt idx="2">
                  <c:v>1229</c:v>
                </c:pt>
                <c:pt idx="3">
                  <c:v>1170</c:v>
                </c:pt>
                <c:pt idx="4">
                  <c:v>1004</c:v>
                </c:pt>
                <c:pt idx="5">
                  <c:v>843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8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Valoraciones positivas</c:v>
                </c:pt>
              </c:strCache>
            </c:strRef>
          </c:tx>
          <c:spPr>
            <a:solidFill>
              <a:srgbClr val="1E90FF"/>
            </a:solidFill>
            <a:ln w="31750" cap="flat">
              <a:solidFill>
                <a:srgbClr val="1E9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90FF"/>
              </a:solidFill>
              <a:ln w="9525" cap="flat">
                <a:solidFill>
                  <a:srgbClr val="1E9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1997</c:v>
                  </c:pt>
                  <c:pt idx="1">
                    <c:v>1998</c:v>
                  </c:pt>
                  <c:pt idx="2">
                    <c:v>1999</c:v>
                  </c:pt>
                  <c:pt idx="3">
                    <c:v>2000</c:v>
                  </c:pt>
                  <c:pt idx="4">
                    <c:v>2001</c:v>
                  </c:pt>
                  <c:pt idx="5">
                    <c:v>2002</c:v>
                  </c:pt>
                  <c:pt idx="6">
                    <c:v>2003</c:v>
                  </c:pt>
                  <c:pt idx="7">
                    <c:v>2004</c:v>
                  </c:pt>
                  <c:pt idx="8">
                    <c:v>2005</c:v>
                  </c:pt>
                  <c:pt idx="9">
                    <c:v>2006</c:v>
                  </c:pt>
                  <c:pt idx="10">
                    <c:v>2007</c:v>
                  </c:pt>
                  <c:pt idx="11">
                    <c:v>2008</c:v>
                  </c:pt>
                  <c:pt idx="12">
                    <c:v>2009</c:v>
                  </c:pt>
                  <c:pt idx="13">
                    <c:v>2010</c:v>
                  </c:pt>
                  <c:pt idx="14">
                    <c:v>2011</c:v>
                  </c:pt>
                  <c:pt idx="15">
                    <c:v>2012</c:v>
                  </c:pt>
                  <c:pt idx="16">
                    <c:v>2013</c:v>
                  </c:pt>
                  <c:pt idx="17">
                    <c:v>2014</c:v>
                  </c:pt>
                  <c:pt idx="18">
                    <c:v>2015</c:v>
                  </c:pt>
                  <c:pt idx="19">
                    <c:v>2016</c:v>
                  </c:pt>
                  <c:pt idx="20">
                    <c:v>2017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91</c:v>
                </c:pt>
                <c:pt idx="1">
                  <c:v>96</c:v>
                </c:pt>
                <c:pt idx="2">
                  <c:v>89</c:v>
                </c:pt>
                <c:pt idx="3">
                  <c:v>89</c:v>
                </c:pt>
                <c:pt idx="4">
                  <c:v>88</c:v>
                </c:pt>
                <c:pt idx="5">
                  <c:v>90</c:v>
                </c:pt>
                <c:pt idx="6">
                  <c:v>79</c:v>
                </c:pt>
                <c:pt idx="7">
                  <c:v>91</c:v>
                </c:pt>
                <c:pt idx="8">
                  <c:v>80</c:v>
                </c:pt>
                <c:pt idx="9">
                  <c:v>80</c:v>
                </c:pt>
                <c:pt idx="10">
                  <c:v>80</c:v>
                </c:pt>
                <c:pt idx="11">
                  <c:v>76</c:v>
                </c:pt>
                <c:pt idx="12">
                  <c:v>75</c:v>
                </c:pt>
                <c:pt idx="13">
                  <c:v>75</c:v>
                </c:pt>
                <c:pt idx="14">
                  <c:v>72</c:v>
                </c:pt>
                <c:pt idx="15">
                  <c:v>76</c:v>
                </c:pt>
                <c:pt idx="16">
                  <c:v>75</c:v>
                </c:pt>
                <c:pt idx="17">
                  <c:v>69</c:v>
                </c:pt>
                <c:pt idx="18">
                  <c:v>71</c:v>
                </c:pt>
                <c:pt idx="19">
                  <c:v>71</c:v>
                </c:pt>
                <c:pt idx="20">
                  <c:v>75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Cantidad de juegos</c:v>
                </c:pt>
              </c:strCache>
            </c:strRef>
          </c:tx>
          <c:spPr>
            <a:solidFill>
              <a:srgbClr val="1DB9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8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B9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Gratuito</c:v>
                  </c:pt>
                  <c:pt idx="1">
                    <c:v>Pago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1214</c:v>
                </c:pt>
                <c:pt idx="1">
                  <c:v>7520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8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Valoración promedio %</c:v>
                </c:pt>
              </c:strCache>
            </c:strRef>
          </c:tx>
          <c:spPr>
            <a:solidFill>
              <a:srgbClr val="1DB9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8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B9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90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Gratuito</c:v>
                  </c:pt>
                  <c:pt idx="1">
                    <c:v>Pago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72.88</c:v>
                </c:pt>
                <c:pt idx="1">
                  <c:v>76.48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8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8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6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🎮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74320" y="502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Analysis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146304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Indie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743200" y="2240280"/>
            <a:ext cx="36576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77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 de +27.000 juegos de Steam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· Géneros · Precios · Evolución temporal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3474720"/>
            <a:ext cx="8595360" cy="1188720"/>
          </a:xfrm>
          <a:prstGeom prst="rect">
            <a:avLst/>
          </a:prstGeom>
          <a:solidFill>
            <a:srgbClr val="0D1B2A">
              <a:alpha val="80000"/>
            </a:srgbClr>
          </a:solidFill>
          <a:ln w="12700">
            <a:solidFill>
              <a:srgbClr val="66C0F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Batta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 ·  Google Data Analytics Professional Certificate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github.com/danielabatta3/steam-data-analysis  ·  Marzo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presentación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8595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502920" cy="621792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2588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2893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analizamos y por qué?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8595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965960"/>
            <a:ext cx="502920" cy="621792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05740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2020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proceso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8600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SQL · Tableau · GitHub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697480"/>
            <a:ext cx="8595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697480"/>
            <a:ext cx="502920" cy="621792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78892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27523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principales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1752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insights clave sobre el mercado de Steam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429000"/>
            <a:ext cx="8595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429000"/>
            <a:ext cx="502920" cy="621792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352044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" y="34838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Indie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 detrás de los datos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160520"/>
            <a:ext cx="8595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4160520"/>
            <a:ext cx="502920" cy="621792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25196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4215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448056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 las preguntas del análisis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 y Objetivos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41148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4114800" cy="45720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618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Fuente: 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Steam Store Games
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27.075 juegos 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dataset
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 columnas 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registro
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Período: 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 – 2019
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Incluye: 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precios, géneros, plataformas, valoraciones y tiempos de juego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2062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234440"/>
            <a:ext cx="4206240" cy="45720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26187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Preguntas del análisis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00600" y="1828800"/>
            <a:ext cx="3931920" cy="566928"/>
          </a:xfrm>
          <a:prstGeom prst="rect">
            <a:avLst/>
          </a:prstGeom>
          <a:solidFill>
            <a:srgbClr val="F0F6FF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92024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géneros dominan el catálogo?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2542032"/>
            <a:ext cx="3931920" cy="566928"/>
          </a:xfrm>
          <a:prstGeom prst="rect">
            <a:avLst/>
          </a:prstGeom>
          <a:solidFill>
            <a:srgbClr val="F0F6FF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2633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juegos indie superan a los AAA?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00600" y="3255264"/>
            <a:ext cx="3931920" cy="566928"/>
          </a:xfrm>
          <a:prstGeom prst="rect">
            <a:avLst/>
          </a:prstGeom>
          <a:solidFill>
            <a:srgbClr val="F0F6FF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3467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gratuitos tienen mejor o peor valoración?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968496"/>
            <a:ext cx="3931920" cy="566928"/>
          </a:xfrm>
          <a:prstGeom prst="rect">
            <a:avLst/>
          </a:prstGeom>
          <a:solidFill>
            <a:srgbClr val="F0F6FF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405993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evolucionó la calidad con los años?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Herramientas y Proceso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0116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234440"/>
            <a:ext cx="201168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🐍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Pandas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9144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9260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 transformación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27.075 registros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50592" y="1234440"/>
            <a:ext cx="20116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50592" y="1234440"/>
            <a:ext cx="201168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1371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🗄️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542032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99232" y="2834640"/>
            <a:ext cx="9144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2032" y="29260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consultas de 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base de datos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26864" y="1234440"/>
            <a:ext cx="20116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26864" y="1234440"/>
            <a:ext cx="201168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1371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📊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718304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175504" y="2834640"/>
            <a:ext cx="9144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18304" y="29260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online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03136" y="1234440"/>
            <a:ext cx="20116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03136" y="1234440"/>
            <a:ext cx="201168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03136" y="1371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💻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894576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51776" y="2834640"/>
            <a:ext cx="9144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94576" y="29260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público con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documentado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48840" y="2377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C0F4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325112" y="2377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C0F4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501384" y="2377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C0F4"/>
                </a:solidFill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Hallazgo 1 — Géneros dominantes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8872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188720"/>
            <a:ext cx="2743200" cy="14630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217920" y="1234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Insight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17920" y="16002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aparece en los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géneros más populares.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nicho — 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columna vertebral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catálogo.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26480" y="2834640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126480" y="29260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6126480" y="37490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en 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#1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(Action;Indie)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Hallazgo 2 — Evolución de la calidad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8872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188720"/>
            <a:ext cx="25603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0" y="123444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0" y="17830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promedio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1997-1998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2423160"/>
            <a:ext cx="2560320" cy="109728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0" y="24688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40080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histórico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2014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3657600"/>
            <a:ext cx="25603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0" y="37033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6400800" y="42519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apertura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desarrolladores indie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Hallazgo 3 — Gratuitos vs Pagos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188720"/>
          <a:ext cx="50292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274320" y="3566160"/>
          <a:ext cx="50292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1188720"/>
            <a:ext cx="3383280" cy="37490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5577840" y="12801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Conclusión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577840" y="173736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es una plataforma principalmente de pago.
</a:t>
            </a:r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76.48%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valoración
positiva promedio en
juegos de pago
</a:t>
            </a:r>
            <a:pPr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72.88%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gratuitos
</a:t>
            </a:r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juegos de pago tienen mejor reputación promedio — posiblemente porque hay más inversión en calidad.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Hallazgo 4 — Cantidad ≠ Calidad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34440"/>
          <a:ext cx="5943600" cy="3200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Diagnóstico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 of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DB9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Prolífico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KOEI TECMO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DB9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Ripknot 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Calidad baja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Dexion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Muy baja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234440"/>
            <a:ext cx="2560320" cy="320040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92240" y="13258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Insight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92240" y="173736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muchos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no garantiza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desempeño.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Dexion Games tiene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juegos pero solo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29.2% de valoración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positiva.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cantidad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calidad genera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 reputación.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Efecto Indie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51560"/>
            <a:ext cx="8595360" cy="822960"/>
          </a:xfrm>
          <a:prstGeom prst="rect">
            <a:avLst/>
          </a:prstGeom>
          <a:solidFill>
            <a:srgbClr val="0D1B2A">
              <a:alpha val="70000"/>
            </a:srgbClr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2014: El punto de inflexión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4173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abrió Steam a desarrolladores independientes. Los lanzamientos pasaron de 418 en 2013 a 1.555 en 2014 — un crecimiento del 272%.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011680"/>
            <a:ext cx="8595360" cy="822960"/>
          </a:xfrm>
          <a:prstGeom prst="rect">
            <a:avLst/>
          </a:prstGeom>
          <a:solidFill>
            <a:srgbClr val="0D1B2A">
              <a:alpha val="70000"/>
            </a:srgbClr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1488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domina el catálogo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3774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géneros más populares incluyen la etiqueta 'Indie'. No es un segmento menor — es la categoría dominante de la plataforma.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71800"/>
            <a:ext cx="8595360" cy="822960"/>
          </a:xfrm>
          <a:prstGeom prst="rect">
            <a:avLst/>
          </a:prstGeom>
          <a:solidFill>
            <a:srgbClr val="0D1B2A">
              <a:alpha val="70000"/>
            </a:srgbClr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1089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cantidad, menor calidad promedio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337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promedio bajó del 91% en 1997 al 69% en 2014. La apertura masiva trajo variedad pero también muchos juegos de baja calidad.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931920"/>
            <a:ext cx="8595360" cy="822960"/>
          </a:xfrm>
          <a:prstGeom prst="rect">
            <a:avLst/>
          </a:prstGeom>
          <a:solidFill>
            <a:srgbClr val="0D1B2A">
              <a:alpha val="70000"/>
            </a:srgbClr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4069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0584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mejores siguen siendo excelentes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297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2, Factorio y otros juegos indie tienen +98% de valoraciones positivas. La clave es calidad sobre cantidad.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838"/>
          </a:solidFill>
          <a:ln w="12700">
            <a:solidFill>
              <a:srgbClr val="1B2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Conclusiones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420624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Indie domina Steam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géneros indie lideran en cantidad. El catálogo de Steam es mayormente producción independiente.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420624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2014 fue el año de quiebre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73736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apertura a desarrolladores indie triplicó los lanzamientos anuales y transformó la plataforma.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108960"/>
            <a:ext cx="420624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246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Calidad vs Cantidad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3657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juegos de pago tienen mejor valoración promedio. Publicar muchos juegos sin calidad destruye la reputación.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4206240" cy="54864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246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Los mejores son excelentes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92040" y="3657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2, Factorio y otros alcanzan +98% de valoraciones. La excelencia es posible en cualquier segmento.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5720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🎮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743200" y="2148840"/>
            <a:ext cx="3657600" cy="36576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2860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Batta  ·  Data Analyst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2834640"/>
            <a:ext cx="6400800" cy="1920240"/>
          </a:xfrm>
          <a:prstGeom prst="rect">
            <a:avLst/>
          </a:prstGeom>
          <a:solidFill>
            <a:srgbClr val="0D1B2A">
              <a:alpha val="80000"/>
            </a:srgbClr>
          </a:solidFill>
          <a:ln w="12700">
            <a:solidFill>
              <a:srgbClr val="66C0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29260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Dashboard Tableau
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28800" y="35204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Repositorio GitHub
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28800" y="4114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LinkedIn
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 Games Analysis — El Efecto Indie</dc:title>
  <dc:subject>PptxGenJS Presentation</dc:subject>
  <dc:creator>Daniela Batta</dc:creator>
  <cp:lastModifiedBy>Daniela Batta</cp:lastModifiedBy>
  <cp:revision>1</cp:revision>
  <dcterms:created xsi:type="dcterms:W3CDTF">2026-03-23T19:48:03Z</dcterms:created>
  <dcterms:modified xsi:type="dcterms:W3CDTF">2026-03-23T19:48:03Z</dcterms:modified>
</cp:coreProperties>
</file>