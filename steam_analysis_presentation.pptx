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6231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0" y="64008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🎮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Games Analysis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2926080" y="2606040"/>
            <a:ext cx="3291840" cy="50292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2926080" y="2606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Indie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 de +27.000 juegos de Steam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· Géneros · Precios · Evolución temporal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9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Daniela Batta  ·  Data Analyst  ·  Marzo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vamos a ver?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9144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502920" cy="91440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426464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dónde vienen los datos y qué contienen?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103120"/>
            <a:ext cx="4114800" cy="9144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8"/>
          <p:cNvSpPr/>
          <p:nvPr/>
        </p:nvSpPr>
        <p:spPr>
          <a:xfrm>
            <a:off x="365760" y="2103120"/>
            <a:ext cx="502920" cy="91440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365760" y="210312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21762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523744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géneros dominan el catálogo de Steam?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200400"/>
            <a:ext cx="4114800" cy="9144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3"/>
          <p:cNvSpPr/>
          <p:nvPr/>
        </p:nvSpPr>
        <p:spPr>
          <a:xfrm>
            <a:off x="365760" y="3200400"/>
            <a:ext cx="502920" cy="91440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365760" y="320040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27355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con el tiempo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3621024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¿Mejoró o empeoró la reputación de los juegos?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114800" cy="9144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20" name="Shape 18"/>
          <p:cNvSpPr/>
          <p:nvPr/>
        </p:nvSpPr>
        <p:spPr>
          <a:xfrm>
            <a:off x="4754880" y="1005840"/>
            <a:ext cx="502920" cy="91440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4754880" y="100584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107899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Gratuitos vs Pagos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49240" y="1426464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tiene mejor valoración?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103120"/>
            <a:ext cx="4114800" cy="9144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25" name="Shape 23"/>
          <p:cNvSpPr/>
          <p:nvPr/>
        </p:nvSpPr>
        <p:spPr>
          <a:xfrm>
            <a:off x="4754880" y="2103120"/>
            <a:ext cx="502920" cy="91440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6" name="Text 24"/>
          <p:cNvSpPr/>
          <p:nvPr/>
        </p:nvSpPr>
        <p:spPr>
          <a:xfrm>
            <a:off x="4754880" y="210312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49240" y="21762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49240" y="2523744"/>
            <a:ext cx="3429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publica más y con mejor reputación?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Dataset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560320" cy="18288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🎮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27.075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21945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analizados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914400"/>
            <a:ext cx="2560320" cy="18288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3200400" y="960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📅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00400" y="16002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1997–2019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00400" y="21945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cubierto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914400"/>
            <a:ext cx="2560320" cy="18288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6035040" y="9601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035040" y="16002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035040" y="21945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registro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que guían el análisis: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337560"/>
            <a:ext cx="7772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géneros dominan el catálogo?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juegos indie superan a los AAA en valoración?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gratuitos tienen mejor o peor valoración que los de pago?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evolucionó la calidad promedio con los años?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Proceso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1920240" cy="32004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192024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36576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🐍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Pandas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46888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y transformación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27.075 registros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914400"/>
            <a:ext cx="1920240" cy="32004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8"/>
          <p:cNvSpPr/>
          <p:nvPr/>
        </p:nvSpPr>
        <p:spPr>
          <a:xfrm>
            <a:off x="2468880" y="914400"/>
            <a:ext cx="192024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246888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🗄️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468880" y="1920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+ SQLite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46888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consultas de análisis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base de datos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914400"/>
            <a:ext cx="1920240" cy="32004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3"/>
          <p:cNvSpPr/>
          <p:nvPr/>
        </p:nvSpPr>
        <p:spPr>
          <a:xfrm>
            <a:off x="4572000" y="914400"/>
            <a:ext cx="192024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457200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572000" y="1920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Public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246888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online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1920240" cy="32004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20" name="Shape 18"/>
          <p:cNvSpPr/>
          <p:nvPr/>
        </p:nvSpPr>
        <p:spPr>
          <a:xfrm>
            <a:off x="6675120" y="914400"/>
            <a:ext cx="192024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675120" y="10515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💻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675120" y="19202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246888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público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código documentado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Géneros más populares en Steam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85800"/>
            <a:ext cx="8595360" cy="2194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3017520"/>
            <a:ext cx="8595360" cy="173736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6" name="Shape 3"/>
          <p:cNvSpPr/>
          <p:nvPr/>
        </p:nvSpPr>
        <p:spPr>
          <a:xfrm>
            <a:off x="274320" y="3017520"/>
            <a:ext cx="73152" cy="173736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4"/>
          <p:cNvSpPr/>
          <p:nvPr/>
        </p:nvSpPr>
        <p:spPr>
          <a:xfrm>
            <a:off x="502920" y="30906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Insight clave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34747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 aparece en los 5 géneros más populares. No es un nicho — es la columna vertebral del catálogo de Steam.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3090672"/>
            <a:ext cx="2194560" cy="155448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7"/>
          <p:cNvSpPr/>
          <p:nvPr/>
        </p:nvSpPr>
        <p:spPr>
          <a:xfrm>
            <a:off x="6400800" y="320040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1.852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6400800" y="38404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juegos en 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 #1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(Action;Indie)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Evolución de la calidad (1997–2019)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85800"/>
            <a:ext cx="8595360" cy="2880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3749040"/>
            <a:ext cx="2651760" cy="1188720"/>
          </a:xfrm>
          <a:prstGeom prst="rect">
            <a:avLst/>
          </a:prstGeom>
          <a:solidFill>
            <a:srgbClr val="2A475E"/>
          </a:solidFill>
          <a:ln w="25400">
            <a:solidFill>
              <a:srgbClr val="4CAF50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274320" y="37947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274320" y="4343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en 1997–98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154680" y="3749040"/>
            <a:ext cx="2651760" cy="1188720"/>
          </a:xfrm>
          <a:prstGeom prst="rect">
            <a:avLst/>
          </a:prstGeom>
          <a:solidFill>
            <a:srgbClr val="2A475E"/>
          </a:solidFill>
          <a:ln w="254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9" name="Text 6"/>
          <p:cNvSpPr/>
          <p:nvPr/>
        </p:nvSpPr>
        <p:spPr>
          <a:xfrm>
            <a:off x="3154680" y="37947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3154680" y="4343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en 2014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35040" y="3749040"/>
            <a:ext cx="2651760" cy="1188720"/>
          </a:xfrm>
          <a:prstGeom prst="rect">
            <a:avLst/>
          </a:prstGeom>
          <a:solidFill>
            <a:srgbClr val="2A475E"/>
          </a:solidFill>
          <a:ln w="25400">
            <a:solidFill>
              <a:srgbClr val="F0C040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2" name="Text 9"/>
          <p:cNvSpPr/>
          <p:nvPr/>
        </p:nvSpPr>
        <p:spPr>
          <a:xfrm>
            <a:off x="6035040" y="37947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272%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035040" y="4343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de lanzamientos en 2014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Gratuitos vs Pagos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85800"/>
            <a:ext cx="347472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023360" y="685800"/>
            <a:ext cx="4846320" cy="18288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6" name="Text 3"/>
          <p:cNvSpPr/>
          <p:nvPr/>
        </p:nvSpPr>
        <p:spPr>
          <a:xfrm>
            <a:off x="4160520" y="777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Los números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160520" y="11887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82.9%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160520" y="1783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46520" y="11887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82.4%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46520" y="1783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023360" y="2697480"/>
            <a:ext cx="4846320" cy="2103120"/>
          </a:xfrm>
          <a:prstGeom prst="rect">
            <a:avLst/>
          </a:prstGeom>
          <a:solidFill>
            <a:srgbClr val="2A475E"/>
          </a:solidFill>
          <a:ln w="12700">
            <a:solidFill>
              <a:srgbClr val="F0C040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2" name="Shape 9"/>
          <p:cNvSpPr/>
          <p:nvPr/>
        </p:nvSpPr>
        <p:spPr>
          <a:xfrm>
            <a:off x="4023360" y="2697480"/>
            <a:ext cx="73152" cy="2103120"/>
          </a:xfrm>
          <a:prstGeom prst="rect">
            <a:avLst/>
          </a:prstGeom>
          <a:solidFill>
            <a:srgbClr val="F0C040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0"/>
          <p:cNvSpPr/>
          <p:nvPr/>
        </p:nvSpPr>
        <p:spPr>
          <a:xfrm>
            <a:off x="420624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C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Hallazgo sorprendente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206240" y="3200400"/>
            <a:ext cx="4480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 mínima: apenas 0.5 puntos porcentuales. El precio no determina la calidad de un juego.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es principalmente una plataforma de pago (el 86% de los juegos son pagos), pero los gratuitos mantienen una reputación igualmente alta.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Top 20 Desarrolladores: Volumen y Reputación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685800"/>
            <a:ext cx="8595360" cy="2743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566160"/>
          <a:ext cx="8595360" cy="1371600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Desarrollador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0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Juegos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0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Reputación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0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Diagnóstico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C0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 of Games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 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Prolífico y bien valorado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KOEI TECMO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 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Volumen alto, calidad estable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Dexion Games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 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Cantidad sin calidad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Nekyau Games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Baja 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Reputación dañada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C0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Indie 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173736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411480" y="10241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2014: El punto de inflexión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46304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 abrió Steam a desarrolladores independientes. Los lanzamientos pasaron de 418 en 2013 a 1.555 en 2014 — un crecimiento del 272%.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206240" cy="173736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4892040" y="10241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Indie domina el catálogo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géneros más populares incluyen la etiqueta Indie. No es un segmento menor — es la categoría dominante de la plataforma.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834640"/>
            <a:ext cx="4206240" cy="173736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411480" y="29443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 Más cantidad, menor calidad promedio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33832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promedio bajó del 91% en 1997 al 69% en 2014. La apertura masiva trajo variedad pero también muchos juegos de baja calidad.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4206240" cy="173736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4892040" y="29443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💎  Los mejores siguen siendo excelentes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33832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2, Factorio y otros juegos indie tienen +98% de valoraciones positivas. La clave: calidad sobre cantidad.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8412480" cy="868680"/>
          </a:xfrm>
          <a:prstGeom prst="rect">
            <a:avLst/>
          </a:prstGeom>
          <a:solidFill>
            <a:srgbClr val="2A475E"/>
          </a:solidFill>
          <a:ln w="635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57200" cy="86868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9144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Indie domina Steam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2801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géneros indie lideran en cantidad. El catálogo de Steam es mayormente producción independiente.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874520"/>
            <a:ext cx="8412480" cy="868680"/>
          </a:xfrm>
          <a:prstGeom prst="rect">
            <a:avLst/>
          </a:prstGeom>
          <a:solidFill>
            <a:srgbClr val="2A475E"/>
          </a:solidFill>
          <a:ln w="635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57200" cy="86868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365760" y="187452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19202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 fue el año de quiebre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22860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apertura a desarrolladores indie triplicó los lanzamientos anuales y transformó la plataforma.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8412480" cy="868680"/>
          </a:xfrm>
          <a:prstGeom prst="rect">
            <a:avLst/>
          </a:prstGeom>
          <a:solidFill>
            <a:srgbClr val="2A475E"/>
          </a:solidFill>
          <a:ln w="635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457200" cy="86868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365760" y="288036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29260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≠ Calidad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32918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Gratuitos (82.9%) y pagos (82.4%) tienen prácticamente la misma reputación. El precio no es indicador.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8412480" cy="868680"/>
          </a:xfrm>
          <a:prstGeom prst="rect">
            <a:avLst/>
          </a:prstGeom>
          <a:solidFill>
            <a:srgbClr val="2A475E"/>
          </a:solidFill>
          <a:ln w="635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20" name="Shape 18"/>
          <p:cNvSpPr/>
          <p:nvPr/>
        </p:nvSpPr>
        <p:spPr>
          <a:xfrm>
            <a:off x="365760" y="3886200"/>
            <a:ext cx="457200" cy="86868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365760" y="388620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39319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sin calidad = mala reputación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42976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Desarrolladores como Dexion Games demuestran que publicar mucho sin cuidar la calidad genera mala imagen.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0" y="7315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🎮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2286000" y="2560320"/>
            <a:ext cx="4572000" cy="45720"/>
          </a:xfrm>
          <a:prstGeom prst="rect">
            <a:avLst/>
          </a:prstGeom>
          <a:solidFill>
            <a:srgbClr val="66C0F4"/>
          </a:solidFill>
          <a:ln w="12700">
            <a:solidFill>
              <a:srgbClr val="66C0F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Daniela Batta  ·  Data Analyst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97280" y="3383280"/>
            <a:ext cx="2103120" cy="13716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1097280" y="345643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97280" y="40233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Tableau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66160" y="3383280"/>
            <a:ext cx="2103120" cy="13716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3566160" y="345643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💻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66160" y="40233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3383280"/>
            <a:ext cx="2103120" cy="1371600"/>
          </a:xfrm>
          <a:prstGeom prst="rect">
            <a:avLst/>
          </a:prstGeom>
          <a:solidFill>
            <a:srgbClr val="2A475E"/>
          </a:solidFill>
          <a:ln w="12700">
            <a:solidFill>
              <a:srgbClr val="66C0F4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6035040" y="3456432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💼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035040" y="40233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6D4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633</Words>
  <Application>Microsoft Office PowerPoint</Application>
  <PresentationFormat>Presentación en pantalla (16:9)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Steam Games Analysis — El Efecto Indie</dc:title>
  <dc:subject>PptxGenJS Presentation</dc:subject>
  <dc:creator>Daniela Batta</dc:creator>
  <cp:lastModifiedBy>DANI</cp:lastModifiedBy>
  <cp:revision>1</cp:revision>
  <dcterms:created xsi:type="dcterms:W3CDTF">2026-04-03T22:46:29Z</dcterms:created>
  <dcterms:modified xsi:type="dcterms:W3CDTF">2026-04-03T22:47:13Z</dcterms:modified>
</cp:coreProperties>
</file>